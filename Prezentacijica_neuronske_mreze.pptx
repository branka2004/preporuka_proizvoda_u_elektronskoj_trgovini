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3"/>
  </p:notesMasterIdLst>
  <p:sldIdLst>
    <p:sldId id="256" r:id="rId2"/>
    <p:sldId id="258" r:id="rId3"/>
    <p:sldId id="260" r:id="rId4"/>
    <p:sldId id="262" r:id="rId5"/>
    <p:sldId id="279" r:id="rId6"/>
    <p:sldId id="267" r:id="rId7"/>
    <p:sldId id="309" r:id="rId8"/>
    <p:sldId id="266" r:id="rId9"/>
    <p:sldId id="310" r:id="rId10"/>
    <p:sldId id="264" r:id="rId11"/>
    <p:sldId id="311" r:id="rId12"/>
    <p:sldId id="312" r:id="rId13"/>
    <p:sldId id="313" r:id="rId14"/>
    <p:sldId id="261" r:id="rId15"/>
    <p:sldId id="317" r:id="rId16"/>
    <p:sldId id="316" r:id="rId17"/>
    <p:sldId id="314" r:id="rId18"/>
    <p:sldId id="265" r:id="rId19"/>
    <p:sldId id="315" r:id="rId20"/>
    <p:sldId id="318" r:id="rId21"/>
    <p:sldId id="269" r:id="rId22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24"/>
      <p:bold r:id="rId25"/>
      <p:italic r:id="rId26"/>
      <p:boldItalic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BD9E6C-3485-444C-9596-E05705E805CB}">
  <a:tblStyle styleId="{1ABD9E6C-3485-444C-9596-E05705E805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>
        <p:scale>
          <a:sx n="100" d="100"/>
          <a:sy n="100" d="100"/>
        </p:scale>
        <p:origin x="413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a9469d1f4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a9469d1f4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9469d1f40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a9469d1f40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a9fa940987_3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a9fa940987_3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a9fa940987_1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a9fa940987_1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32D32AD-885D-2DDE-D75C-79844BEAD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a9fa940987_3_133:notes">
            <a:extLst>
              <a:ext uri="{FF2B5EF4-FFF2-40B4-BE49-F238E27FC236}">
                <a16:creationId xmlns:a16="http://schemas.microsoft.com/office/drawing/2014/main" id="{2CBD5BD5-D628-BE67-CACA-2DBF27D954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a9fa940987_3_133:notes">
            <a:extLst>
              <a:ext uri="{FF2B5EF4-FFF2-40B4-BE49-F238E27FC236}">
                <a16:creationId xmlns:a16="http://schemas.microsoft.com/office/drawing/2014/main" id="{8A16C373-66CB-8362-78A1-CA353917B8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134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a9fa940987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a9fa940987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7C145A69-D53F-7616-4858-50313D672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9469d1f40_0_61:notes">
            <a:extLst>
              <a:ext uri="{FF2B5EF4-FFF2-40B4-BE49-F238E27FC236}">
                <a16:creationId xmlns:a16="http://schemas.microsoft.com/office/drawing/2014/main" id="{CC7C69B5-57DA-460C-7C3B-AE1A266F9A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a9469d1f40_0_61:notes">
            <a:extLst>
              <a:ext uri="{FF2B5EF4-FFF2-40B4-BE49-F238E27FC236}">
                <a16:creationId xmlns:a16="http://schemas.microsoft.com/office/drawing/2014/main" id="{76906E84-D1BA-CADB-8CDF-5BA5CDDF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9975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a9fa940987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a9fa940987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82DEDA7-71A2-CC81-96B9-7C8999694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a9fa940987_3_133:notes">
            <a:extLst>
              <a:ext uri="{FF2B5EF4-FFF2-40B4-BE49-F238E27FC236}">
                <a16:creationId xmlns:a16="http://schemas.microsoft.com/office/drawing/2014/main" id="{78CBC06D-92A8-CA3B-CBAD-915B7689C9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a9fa940987_3_133:notes">
            <a:extLst>
              <a:ext uri="{FF2B5EF4-FFF2-40B4-BE49-F238E27FC236}">
                <a16:creationId xmlns:a16="http://schemas.microsoft.com/office/drawing/2014/main" id="{19765348-2FD7-B1A4-CE3D-E40F56BA94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1808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4CCE22C7-BDE2-5E24-4658-4F8201AF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a9fa940987_1_7:notes">
            <a:extLst>
              <a:ext uri="{FF2B5EF4-FFF2-40B4-BE49-F238E27FC236}">
                <a16:creationId xmlns:a16="http://schemas.microsoft.com/office/drawing/2014/main" id="{6D6BCD2B-07A2-506B-32FD-EFAC7F3E60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a9fa940987_1_7:notes">
            <a:extLst>
              <a:ext uri="{FF2B5EF4-FFF2-40B4-BE49-F238E27FC236}">
                <a16:creationId xmlns:a16="http://schemas.microsoft.com/office/drawing/2014/main" id="{0DB25EE5-A1B1-8150-4A9B-11E4BF63A1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60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62FC58D-A85F-0FBF-9F82-254101F9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a9fa940987_3_133:notes">
            <a:extLst>
              <a:ext uri="{FF2B5EF4-FFF2-40B4-BE49-F238E27FC236}">
                <a16:creationId xmlns:a16="http://schemas.microsoft.com/office/drawing/2014/main" id="{F242833E-81A8-9C9A-539E-0B5825E810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a9fa940987_3_133:notes">
            <a:extLst>
              <a:ext uri="{FF2B5EF4-FFF2-40B4-BE49-F238E27FC236}">
                <a16:creationId xmlns:a16="http://schemas.microsoft.com/office/drawing/2014/main" id="{A7DF8D78-CFCD-00B4-0B7E-88513B70FE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5095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9fa940987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a9fa940987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FB0CF3C-87AE-D3E9-66EC-318E9CBC7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a9fa940987_3_133:notes">
            <a:extLst>
              <a:ext uri="{FF2B5EF4-FFF2-40B4-BE49-F238E27FC236}">
                <a16:creationId xmlns:a16="http://schemas.microsoft.com/office/drawing/2014/main" id="{BCC3F05D-2EF2-E904-46DF-DC00ABE313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a9fa940987_3_133:notes">
            <a:extLst>
              <a:ext uri="{FF2B5EF4-FFF2-40B4-BE49-F238E27FC236}">
                <a16:creationId xmlns:a16="http://schemas.microsoft.com/office/drawing/2014/main" id="{684B4E2D-B6EE-741B-05CD-E21A9FC376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5735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0DDA89C3-842F-6A03-D866-0ED14E9B5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9fa940987_1_24:notes">
            <a:extLst>
              <a:ext uri="{FF2B5EF4-FFF2-40B4-BE49-F238E27FC236}">
                <a16:creationId xmlns:a16="http://schemas.microsoft.com/office/drawing/2014/main" id="{67619C0E-E617-7242-533F-8A0D99111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a9fa940987_1_24:notes">
            <a:extLst>
              <a:ext uri="{FF2B5EF4-FFF2-40B4-BE49-F238E27FC236}">
                <a16:creationId xmlns:a16="http://schemas.microsoft.com/office/drawing/2014/main" id="{6F1DE92D-53C6-EB71-8A10-504ED47A7D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63673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855E3D5C-13F8-C73D-CDBC-C61092D95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a9fa940987_3_133:notes">
            <a:extLst>
              <a:ext uri="{FF2B5EF4-FFF2-40B4-BE49-F238E27FC236}">
                <a16:creationId xmlns:a16="http://schemas.microsoft.com/office/drawing/2014/main" id="{D299A712-F423-0AC3-A52C-FF2AEF7F3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a9fa940987_3_133:notes">
            <a:extLst>
              <a:ext uri="{FF2B5EF4-FFF2-40B4-BE49-F238E27FC236}">
                <a16:creationId xmlns:a16="http://schemas.microsoft.com/office/drawing/2014/main" id="{D1DA92C4-7CB7-8236-83DE-A8E1A94071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47187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a9fa940987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a9fa940987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ECAD883-C0F8-000F-290A-972DE83A6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a9fa940987_3_133:notes">
            <a:extLst>
              <a:ext uri="{FF2B5EF4-FFF2-40B4-BE49-F238E27FC236}">
                <a16:creationId xmlns:a16="http://schemas.microsoft.com/office/drawing/2014/main" id="{92558349-BEDE-F6FD-5545-7AF59DAD8B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a9fa940987_3_133:notes">
            <a:extLst>
              <a:ext uri="{FF2B5EF4-FFF2-40B4-BE49-F238E27FC236}">
                <a16:creationId xmlns:a16="http://schemas.microsoft.com/office/drawing/2014/main" id="{3E1DC24B-C127-4816-0890-F8323C7AF2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42750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980149ED-385C-DD77-A69A-B4AD3248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9fa940987_1_24:notes">
            <a:extLst>
              <a:ext uri="{FF2B5EF4-FFF2-40B4-BE49-F238E27FC236}">
                <a16:creationId xmlns:a16="http://schemas.microsoft.com/office/drawing/2014/main" id="{AAE2FF75-C635-7152-B3BD-F8D0F9246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a9fa940987_1_24:notes">
            <a:extLst>
              <a:ext uri="{FF2B5EF4-FFF2-40B4-BE49-F238E27FC236}">
                <a16:creationId xmlns:a16="http://schemas.microsoft.com/office/drawing/2014/main" id="{E4208A24-47F5-0596-0174-583C811480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45941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a9fa940987_1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a9fa940987_1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96842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96827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96835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/>
        </p:nvSpPr>
        <p:spPr>
          <a:xfrm rot="10800000" flipH="1">
            <a:off x="1441925" y="25716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2658125" y="0"/>
            <a:ext cx="12162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" name="Google Shape;31;p6"/>
          <p:cNvSpPr/>
          <p:nvPr/>
        </p:nvSpPr>
        <p:spPr>
          <a:xfrm rot="5400000">
            <a:off x="6703350" y="270292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71337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ubTitle" idx="1"/>
          </p:nvPr>
        </p:nvSpPr>
        <p:spPr>
          <a:xfrm>
            <a:off x="71322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 idx="2" hasCustomPrompt="1"/>
          </p:nvPr>
        </p:nvSpPr>
        <p:spPr>
          <a:xfrm>
            <a:off x="71330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6" name="Google Shape;46;p9"/>
          <p:cNvSpPr/>
          <p:nvPr/>
        </p:nvSpPr>
        <p:spPr>
          <a:xfrm>
            <a:off x="5270400" y="9795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6486600" y="2571900"/>
            <a:ext cx="12162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ctrTitle" idx="2"/>
          </p:nvPr>
        </p:nvSpPr>
        <p:spPr>
          <a:xfrm>
            <a:off x="2310350" y="1446813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 idx="3" hasCustomPrompt="1"/>
          </p:nvPr>
        </p:nvSpPr>
        <p:spPr>
          <a:xfrm>
            <a:off x="717800" y="1521025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1"/>
          </p:nvPr>
        </p:nvSpPr>
        <p:spPr>
          <a:xfrm>
            <a:off x="2310350" y="185887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ctrTitle" idx="4"/>
          </p:nvPr>
        </p:nvSpPr>
        <p:spPr>
          <a:xfrm>
            <a:off x="6233050" y="1446813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title" idx="5" hasCustomPrompt="1"/>
          </p:nvPr>
        </p:nvSpPr>
        <p:spPr>
          <a:xfrm>
            <a:off x="4686400" y="1521025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6"/>
          </p:nvPr>
        </p:nvSpPr>
        <p:spPr>
          <a:xfrm>
            <a:off x="6275800" y="1858878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ctrTitle" idx="7"/>
          </p:nvPr>
        </p:nvSpPr>
        <p:spPr>
          <a:xfrm>
            <a:off x="2310350" y="2868777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 idx="8" hasCustomPrompt="1"/>
          </p:nvPr>
        </p:nvSpPr>
        <p:spPr>
          <a:xfrm>
            <a:off x="717800" y="2960450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9"/>
          </p:nvPr>
        </p:nvSpPr>
        <p:spPr>
          <a:xfrm>
            <a:off x="2310350" y="329832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ctrTitle" idx="13"/>
          </p:nvPr>
        </p:nvSpPr>
        <p:spPr>
          <a:xfrm>
            <a:off x="6275650" y="2868775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title" idx="14" hasCustomPrompt="1"/>
          </p:nvPr>
        </p:nvSpPr>
        <p:spPr>
          <a:xfrm>
            <a:off x="4686400" y="2960450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5"/>
          </p:nvPr>
        </p:nvSpPr>
        <p:spPr>
          <a:xfrm>
            <a:off x="6275800" y="329832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1"/>
          </p:nvPr>
        </p:nvSpPr>
        <p:spPr>
          <a:xfrm>
            <a:off x="78810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2"/>
          </p:nvPr>
        </p:nvSpPr>
        <p:spPr>
          <a:xfrm>
            <a:off x="78810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3"/>
          </p:nvPr>
        </p:nvSpPr>
        <p:spPr>
          <a:xfrm>
            <a:off x="344115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4"/>
          </p:nvPr>
        </p:nvSpPr>
        <p:spPr>
          <a:xfrm>
            <a:off x="344115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5"/>
          </p:nvPr>
        </p:nvSpPr>
        <p:spPr>
          <a:xfrm>
            <a:off x="609420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6"/>
          </p:nvPr>
        </p:nvSpPr>
        <p:spPr>
          <a:xfrm>
            <a:off x="609420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7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7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3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1"/>
          </p:nvPr>
        </p:nvSpPr>
        <p:spPr>
          <a:xfrm>
            <a:off x="1878275" y="1251675"/>
            <a:ext cx="27876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2"/>
          </p:nvPr>
        </p:nvSpPr>
        <p:spPr>
          <a:xfrm>
            <a:off x="1878275" y="1744345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3"/>
          </p:nvPr>
        </p:nvSpPr>
        <p:spPr>
          <a:xfrm>
            <a:off x="5351497" y="1251675"/>
            <a:ext cx="27876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4"/>
          </p:nvPr>
        </p:nvSpPr>
        <p:spPr>
          <a:xfrm>
            <a:off x="5351493" y="1744282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subTitle" idx="5"/>
          </p:nvPr>
        </p:nvSpPr>
        <p:spPr>
          <a:xfrm>
            <a:off x="1878275" y="2898148"/>
            <a:ext cx="27876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6"/>
          </p:nvPr>
        </p:nvSpPr>
        <p:spPr>
          <a:xfrm>
            <a:off x="1878275" y="3390754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subTitle" idx="7"/>
          </p:nvPr>
        </p:nvSpPr>
        <p:spPr>
          <a:xfrm>
            <a:off x="5351425" y="2898156"/>
            <a:ext cx="27876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subTitle" idx="8"/>
          </p:nvPr>
        </p:nvSpPr>
        <p:spPr>
          <a:xfrm>
            <a:off x="5351425" y="3390754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ubTitle" idx="9"/>
          </p:nvPr>
        </p:nvSpPr>
        <p:spPr>
          <a:xfrm rot="-5400803">
            <a:off x="609009" y="1779468"/>
            <a:ext cx="12843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subTitle" idx="13"/>
          </p:nvPr>
        </p:nvSpPr>
        <p:spPr>
          <a:xfrm rot="-5400000">
            <a:off x="609075" y="3422400"/>
            <a:ext cx="12843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6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984975" y="1495800"/>
            <a:ext cx="4055400" cy="7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3994375" y="2142600"/>
            <a:ext cx="4055400" cy="15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/>
          <p:nvPr/>
        </p:nvSpPr>
        <p:spPr>
          <a:xfrm rot="10800000" flipH="1">
            <a:off x="0" y="2571825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0"/>
          <p:cNvSpPr/>
          <p:nvPr/>
        </p:nvSpPr>
        <p:spPr>
          <a:xfrm rot="10800000" flipH="1">
            <a:off x="1219200" y="1247175"/>
            <a:ext cx="1216200" cy="132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0" name="Google Shape;140;p23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3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60" r:id="rId6"/>
    <p:sldLayoutId id="2147483663" r:id="rId7"/>
    <p:sldLayoutId id="2147483664" r:id="rId8"/>
    <p:sldLayoutId id="2147483666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200DE8-22FC-AA7D-C19F-BCD9A9584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10C1F541-6169-6A50-0027-070AF7A67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>
            <a:spLocks noGrp="1"/>
          </p:cNvSpPr>
          <p:nvPr>
            <p:ph type="title"/>
          </p:nvPr>
        </p:nvSpPr>
        <p:spPr>
          <a:xfrm>
            <a:off x="3672840" y="2508990"/>
            <a:ext cx="505526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Opis problema</a:t>
            </a:r>
            <a:endParaRPr dirty="0"/>
          </a:p>
        </p:txBody>
      </p:sp>
      <p:sp>
        <p:nvSpPr>
          <p:cNvPr id="224" name="Google Shape;224;p34"/>
          <p:cNvSpPr txBox="1">
            <a:spLocks noGrp="1"/>
          </p:cNvSpPr>
          <p:nvPr>
            <p:ph type="title" idx="2"/>
          </p:nvPr>
        </p:nvSpPr>
        <p:spPr>
          <a:xfrm>
            <a:off x="4265605" y="1530990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>
            <a:spLocks noGrp="1"/>
          </p:cNvSpPr>
          <p:nvPr>
            <p:ph type="title"/>
          </p:nvPr>
        </p:nvSpPr>
        <p:spPr>
          <a:xfrm>
            <a:off x="0" y="346084"/>
            <a:ext cx="4181860" cy="612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r>
              <a:rPr lang="en" sz="1800" dirty="0"/>
              <a:t>01 OPIS PROBLEMA</a:t>
            </a:r>
            <a:endParaRPr sz="1800" dirty="0"/>
          </a:p>
        </p:txBody>
      </p:sp>
      <p:sp>
        <p:nvSpPr>
          <p:cNvPr id="236" name="Google Shape;236;p36"/>
          <p:cNvSpPr txBox="1">
            <a:spLocks noGrp="1"/>
          </p:cNvSpPr>
          <p:nvPr>
            <p:ph type="subTitle" idx="1"/>
          </p:nvPr>
        </p:nvSpPr>
        <p:spPr>
          <a:xfrm>
            <a:off x="788100" y="1052302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sr-Latn-RS" sz="4000" dirty="0"/>
              <a:t>99.47%</a:t>
            </a:r>
            <a:endParaRPr sz="4000" dirty="0"/>
          </a:p>
        </p:txBody>
      </p:sp>
      <p:sp>
        <p:nvSpPr>
          <p:cNvPr id="237" name="Google Shape;237;p36"/>
          <p:cNvSpPr txBox="1">
            <a:spLocks noGrp="1"/>
          </p:cNvSpPr>
          <p:nvPr>
            <p:ph type="subTitle" idx="2"/>
          </p:nvPr>
        </p:nvSpPr>
        <p:spPr>
          <a:xfrm>
            <a:off x="788100" y="182097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sr-Latn-RS" dirty="0"/>
              <a:t>SPARSNOST USER</a:t>
            </a:r>
            <a:r>
              <a:rPr lang="en-US" dirty="0"/>
              <a:t>-ITEM MATRICE</a:t>
            </a:r>
            <a:endParaRPr dirty="0"/>
          </a:p>
        </p:txBody>
      </p:sp>
      <p:sp>
        <p:nvSpPr>
          <p:cNvPr id="238" name="Google Shape;238;p36"/>
          <p:cNvSpPr txBox="1">
            <a:spLocks noGrp="1"/>
          </p:cNvSpPr>
          <p:nvPr>
            <p:ph type="subTitle" idx="3"/>
          </p:nvPr>
        </p:nvSpPr>
        <p:spPr>
          <a:xfrm>
            <a:off x="3441150" y="1052302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000" dirty="0"/>
              <a:t>256 059</a:t>
            </a:r>
            <a:endParaRPr sz="4000" dirty="0"/>
          </a:p>
        </p:txBody>
      </p:sp>
      <p:sp>
        <p:nvSpPr>
          <p:cNvPr id="239" name="Google Shape;239;p36"/>
          <p:cNvSpPr txBox="1">
            <a:spLocks noGrp="1"/>
          </p:cNvSpPr>
          <p:nvPr>
            <p:ph type="subTitle" idx="4"/>
          </p:nvPr>
        </p:nvSpPr>
        <p:spPr>
          <a:xfrm>
            <a:off x="3441150" y="182097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KORISNIKA</a:t>
            </a:r>
            <a:endParaRPr dirty="0"/>
          </a:p>
        </p:txBody>
      </p:sp>
      <p:sp>
        <p:nvSpPr>
          <p:cNvPr id="240" name="Google Shape;240;p36"/>
          <p:cNvSpPr txBox="1">
            <a:spLocks noGrp="1"/>
          </p:cNvSpPr>
          <p:nvPr>
            <p:ph type="subTitle" idx="5"/>
          </p:nvPr>
        </p:nvSpPr>
        <p:spPr>
          <a:xfrm>
            <a:off x="6094200" y="1103504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000" dirty="0"/>
              <a:t>74 258</a:t>
            </a:r>
            <a:endParaRPr sz="4000" dirty="0"/>
          </a:p>
        </p:txBody>
      </p:sp>
      <p:sp>
        <p:nvSpPr>
          <p:cNvPr id="241" name="Google Shape;241;p36"/>
          <p:cNvSpPr txBox="1">
            <a:spLocks noGrp="1"/>
          </p:cNvSpPr>
          <p:nvPr>
            <p:ph type="subTitle" idx="6"/>
          </p:nvPr>
        </p:nvSpPr>
        <p:spPr>
          <a:xfrm>
            <a:off x="6094200" y="182097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PROIZVODA</a:t>
            </a:r>
            <a:endParaRPr dirty="0"/>
          </a:p>
        </p:txBody>
      </p:sp>
      <p:sp>
        <p:nvSpPr>
          <p:cNvPr id="2" name="Google Shape;215;p33">
            <a:extLst>
              <a:ext uri="{FF2B5EF4-FFF2-40B4-BE49-F238E27FC236}">
                <a16:creationId xmlns:a16="http://schemas.microsoft.com/office/drawing/2014/main" id="{A5B074F1-241C-163B-D481-1088096D3812}"/>
              </a:ext>
            </a:extLst>
          </p:cNvPr>
          <p:cNvSpPr txBox="1">
            <a:spLocks/>
          </p:cNvSpPr>
          <p:nvPr/>
        </p:nvSpPr>
        <p:spPr>
          <a:xfrm>
            <a:off x="308134" y="2676124"/>
            <a:ext cx="4263866" cy="201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None/>
              <a:defRPr sz="1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None/>
              <a:defRPr sz="14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US" sz="1400" b="0" dirty="0" err="1">
                <a:solidFill>
                  <a:schemeClr val="tx1"/>
                </a:solidFill>
              </a:rPr>
              <a:t>Korisnici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ocenjuju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samo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mali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broj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proizvoda</a:t>
            </a:r>
            <a:r>
              <a:rPr lang="en-US" sz="1400" b="0" dirty="0">
                <a:solidFill>
                  <a:schemeClr val="tx1"/>
                </a:solidFill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dirty="0" err="1">
                <a:solidFill>
                  <a:schemeClr val="tx1"/>
                </a:solidFill>
              </a:rPr>
              <a:t>Većina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interakcija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između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korisnika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i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proizvoda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nije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poznata</a:t>
            </a:r>
            <a:r>
              <a:rPr lang="en-US" sz="1400" b="0" dirty="0">
                <a:solidFill>
                  <a:schemeClr val="tx1"/>
                </a:solidFill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b="0" dirty="0" err="1">
                <a:solidFill>
                  <a:schemeClr val="tx1"/>
                </a:solidFill>
              </a:rPr>
              <a:t>Potrebno</a:t>
            </a:r>
            <a:r>
              <a:rPr lang="en-US" sz="1400" b="0" dirty="0">
                <a:solidFill>
                  <a:schemeClr val="tx1"/>
                </a:solidFill>
              </a:rPr>
              <a:t> je </a:t>
            </a:r>
            <a:r>
              <a:rPr lang="en-US" sz="1400" b="0" dirty="0" err="1">
                <a:solidFill>
                  <a:schemeClr val="tx1"/>
                </a:solidFill>
              </a:rPr>
              <a:t>predvideti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proizvode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koje</a:t>
            </a:r>
            <a:r>
              <a:rPr lang="en-US" sz="1400" b="0" dirty="0">
                <a:solidFill>
                  <a:schemeClr val="tx1"/>
                </a:solidFill>
              </a:rPr>
              <a:t> bi </a:t>
            </a:r>
            <a:r>
              <a:rPr lang="en-US" sz="1400" b="0" dirty="0" err="1">
                <a:solidFill>
                  <a:schemeClr val="tx1"/>
                </a:solidFill>
              </a:rPr>
              <a:t>korisnik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mogao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kupiti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ili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pozitivno</a:t>
            </a:r>
            <a:r>
              <a:rPr lang="en-US" sz="1400" b="0" dirty="0">
                <a:solidFill>
                  <a:schemeClr val="tx1"/>
                </a:solidFill>
              </a:rPr>
              <a:t> </a:t>
            </a:r>
            <a:r>
              <a:rPr lang="en-US" sz="1400" b="0" dirty="0" err="1">
                <a:solidFill>
                  <a:schemeClr val="tx1"/>
                </a:solidFill>
              </a:rPr>
              <a:t>oceniti</a:t>
            </a:r>
            <a:r>
              <a:rPr lang="en-US" sz="1400" b="0" dirty="0">
                <a:solidFill>
                  <a:schemeClr val="tx1"/>
                </a:solidFill>
              </a:rPr>
              <a:t>.</a:t>
            </a:r>
          </a:p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</p:txBody>
      </p:sp>
      <p:sp>
        <p:nvSpPr>
          <p:cNvPr id="5" name="Google Shape;320;p40">
            <a:extLst>
              <a:ext uri="{FF2B5EF4-FFF2-40B4-BE49-F238E27FC236}">
                <a16:creationId xmlns:a16="http://schemas.microsoft.com/office/drawing/2014/main" id="{091BC638-58D3-FBF2-F285-EE552D068845}"/>
              </a:ext>
            </a:extLst>
          </p:cNvPr>
          <p:cNvSpPr/>
          <p:nvPr/>
        </p:nvSpPr>
        <p:spPr>
          <a:xfrm>
            <a:off x="4759166" y="2676124"/>
            <a:ext cx="4076700" cy="1705376"/>
          </a:xfrm>
          <a:prstGeom prst="round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" name="Google Shape;9307;p76">
            <a:extLst>
              <a:ext uri="{FF2B5EF4-FFF2-40B4-BE49-F238E27FC236}">
                <a16:creationId xmlns:a16="http://schemas.microsoft.com/office/drawing/2014/main" id="{A076F7F9-0223-0EAF-71A6-5BAD5D19D867}"/>
              </a:ext>
            </a:extLst>
          </p:cNvPr>
          <p:cNvGrpSpPr/>
          <p:nvPr/>
        </p:nvGrpSpPr>
        <p:grpSpPr>
          <a:xfrm>
            <a:off x="5144497" y="2904938"/>
            <a:ext cx="258083" cy="287842"/>
            <a:chOff x="-38275925" y="1946600"/>
            <a:chExt cx="231600" cy="317450"/>
          </a:xfrm>
          <a:solidFill>
            <a:schemeClr val="bg2">
              <a:lumMod val="40000"/>
              <a:lumOff val="60000"/>
            </a:schemeClr>
          </a:solidFill>
        </p:grpSpPr>
        <p:sp>
          <p:nvSpPr>
            <p:cNvPr id="7" name="Google Shape;9308;p76">
              <a:extLst>
                <a:ext uri="{FF2B5EF4-FFF2-40B4-BE49-F238E27FC236}">
                  <a16:creationId xmlns:a16="http://schemas.microsoft.com/office/drawing/2014/main" id="{D1024715-94EB-FE75-054B-484E07C14E5D}"/>
                </a:ext>
              </a:extLst>
            </p:cNvPr>
            <p:cNvSpPr/>
            <p:nvPr/>
          </p:nvSpPr>
          <p:spPr>
            <a:xfrm>
              <a:off x="-38275925" y="1946600"/>
              <a:ext cx="231600" cy="317450"/>
            </a:xfrm>
            <a:custGeom>
              <a:avLst/>
              <a:gdLst/>
              <a:ahLst/>
              <a:cxnLst/>
              <a:rect l="l" t="t" r="r" b="b"/>
              <a:pathLst>
                <a:path w="9264" h="12698" extrusionOk="0">
                  <a:moveTo>
                    <a:pt x="4546" y="892"/>
                  </a:moveTo>
                  <a:cubicBezTo>
                    <a:pt x="4811" y="892"/>
                    <a:pt x="5082" y="920"/>
                    <a:pt x="5357" y="977"/>
                  </a:cubicBezTo>
                  <a:cubicBezTo>
                    <a:pt x="6964" y="1292"/>
                    <a:pt x="8287" y="2742"/>
                    <a:pt x="8287" y="4600"/>
                  </a:cubicBezTo>
                  <a:cubicBezTo>
                    <a:pt x="8287" y="5987"/>
                    <a:pt x="7531" y="7215"/>
                    <a:pt x="6396" y="7845"/>
                  </a:cubicBezTo>
                  <a:cubicBezTo>
                    <a:pt x="5987" y="8034"/>
                    <a:pt x="5798" y="8475"/>
                    <a:pt x="5798" y="8885"/>
                  </a:cubicBezTo>
                  <a:lnTo>
                    <a:pt x="5798" y="9169"/>
                  </a:lnTo>
                  <a:lnTo>
                    <a:pt x="3309" y="9169"/>
                  </a:lnTo>
                  <a:lnTo>
                    <a:pt x="3309" y="8854"/>
                  </a:lnTo>
                  <a:cubicBezTo>
                    <a:pt x="3309" y="8412"/>
                    <a:pt x="3088" y="8034"/>
                    <a:pt x="2679" y="7782"/>
                  </a:cubicBezTo>
                  <a:cubicBezTo>
                    <a:pt x="1545" y="7121"/>
                    <a:pt x="820" y="5955"/>
                    <a:pt x="820" y="4600"/>
                  </a:cubicBezTo>
                  <a:cubicBezTo>
                    <a:pt x="820" y="2536"/>
                    <a:pt x="2499" y="892"/>
                    <a:pt x="4546" y="892"/>
                  </a:cubicBezTo>
                  <a:close/>
                  <a:moveTo>
                    <a:pt x="5798" y="9956"/>
                  </a:moveTo>
                  <a:lnTo>
                    <a:pt x="5798" y="10681"/>
                  </a:lnTo>
                  <a:cubicBezTo>
                    <a:pt x="5798" y="10901"/>
                    <a:pt x="5609" y="11059"/>
                    <a:pt x="5357" y="11090"/>
                  </a:cubicBezTo>
                  <a:lnTo>
                    <a:pt x="3719" y="11090"/>
                  </a:lnTo>
                  <a:cubicBezTo>
                    <a:pt x="3467" y="11090"/>
                    <a:pt x="3309" y="10901"/>
                    <a:pt x="3277" y="10681"/>
                  </a:cubicBezTo>
                  <a:lnTo>
                    <a:pt x="3277" y="9956"/>
                  </a:lnTo>
                  <a:close/>
                  <a:moveTo>
                    <a:pt x="4443" y="1"/>
                  </a:moveTo>
                  <a:cubicBezTo>
                    <a:pt x="2049" y="32"/>
                    <a:pt x="1" y="2080"/>
                    <a:pt x="1" y="4600"/>
                  </a:cubicBezTo>
                  <a:cubicBezTo>
                    <a:pt x="1" y="6270"/>
                    <a:pt x="883" y="7719"/>
                    <a:pt x="2238" y="8539"/>
                  </a:cubicBezTo>
                  <a:cubicBezTo>
                    <a:pt x="2332" y="8570"/>
                    <a:pt x="2395" y="8696"/>
                    <a:pt x="2458" y="8759"/>
                  </a:cubicBezTo>
                  <a:lnTo>
                    <a:pt x="2458" y="10681"/>
                  </a:lnTo>
                  <a:cubicBezTo>
                    <a:pt x="2458" y="11216"/>
                    <a:pt x="2805" y="11689"/>
                    <a:pt x="3309" y="11847"/>
                  </a:cubicBezTo>
                  <a:cubicBezTo>
                    <a:pt x="3467" y="12351"/>
                    <a:pt x="3939" y="12697"/>
                    <a:pt x="4506" y="12697"/>
                  </a:cubicBezTo>
                  <a:cubicBezTo>
                    <a:pt x="5042" y="12697"/>
                    <a:pt x="5514" y="12351"/>
                    <a:pt x="5672" y="11847"/>
                  </a:cubicBezTo>
                  <a:cubicBezTo>
                    <a:pt x="6176" y="11689"/>
                    <a:pt x="6554" y="11216"/>
                    <a:pt x="6554" y="10681"/>
                  </a:cubicBezTo>
                  <a:lnTo>
                    <a:pt x="6554" y="8854"/>
                  </a:lnTo>
                  <a:cubicBezTo>
                    <a:pt x="6554" y="8728"/>
                    <a:pt x="6617" y="8570"/>
                    <a:pt x="6712" y="8507"/>
                  </a:cubicBezTo>
                  <a:cubicBezTo>
                    <a:pt x="8318" y="7593"/>
                    <a:pt x="9263" y="5735"/>
                    <a:pt x="8948" y="3750"/>
                  </a:cubicBezTo>
                  <a:cubicBezTo>
                    <a:pt x="8602" y="1702"/>
                    <a:pt x="6806" y="1"/>
                    <a:pt x="44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309;p76">
              <a:extLst>
                <a:ext uri="{FF2B5EF4-FFF2-40B4-BE49-F238E27FC236}">
                  <a16:creationId xmlns:a16="http://schemas.microsoft.com/office/drawing/2014/main" id="{F23948D9-4667-441C-29F8-EDE1701C40D6}"/>
                </a:ext>
              </a:extLst>
            </p:cNvPr>
            <p:cNvSpPr/>
            <p:nvPr/>
          </p:nvSpPr>
          <p:spPr>
            <a:xfrm>
              <a:off x="-38235750" y="1989125"/>
              <a:ext cx="84300" cy="83525"/>
            </a:xfrm>
            <a:custGeom>
              <a:avLst/>
              <a:gdLst/>
              <a:ahLst/>
              <a:cxnLst/>
              <a:rect l="l" t="t" r="r" b="b"/>
              <a:pathLst>
                <a:path w="3372" h="3341" extrusionOk="0">
                  <a:moveTo>
                    <a:pt x="2931" y="1"/>
                  </a:moveTo>
                  <a:cubicBezTo>
                    <a:pt x="1355" y="1"/>
                    <a:pt x="64" y="1293"/>
                    <a:pt x="1" y="2899"/>
                  </a:cubicBezTo>
                  <a:cubicBezTo>
                    <a:pt x="1" y="3120"/>
                    <a:pt x="158" y="3340"/>
                    <a:pt x="410" y="3340"/>
                  </a:cubicBezTo>
                  <a:cubicBezTo>
                    <a:pt x="631" y="3340"/>
                    <a:pt x="851" y="3120"/>
                    <a:pt x="851" y="2899"/>
                  </a:cubicBezTo>
                  <a:cubicBezTo>
                    <a:pt x="883" y="1765"/>
                    <a:pt x="1796" y="820"/>
                    <a:pt x="2931" y="820"/>
                  </a:cubicBezTo>
                  <a:cubicBezTo>
                    <a:pt x="3151" y="820"/>
                    <a:pt x="3372" y="631"/>
                    <a:pt x="3372" y="379"/>
                  </a:cubicBezTo>
                  <a:cubicBezTo>
                    <a:pt x="3372" y="190"/>
                    <a:pt x="3151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660E360-124C-E977-20D4-9A7D3B554C80}"/>
              </a:ext>
            </a:extLst>
          </p:cNvPr>
          <p:cNvSpPr txBox="1"/>
          <p:nvPr/>
        </p:nvSpPr>
        <p:spPr>
          <a:xfrm>
            <a:off x="5370763" y="2894970"/>
            <a:ext cx="1835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Za</a:t>
            </a:r>
            <a:r>
              <a:rPr lang="sr-Latn-R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š</a:t>
            </a: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to </a:t>
            </a:r>
            <a:r>
              <a:rPr lang="en-US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Autoenkoderi</a:t>
            </a: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EBB969-B882-2A34-2E4F-224D2B36B86B}"/>
              </a:ext>
            </a:extLst>
          </p:cNvPr>
          <p:cNvSpPr txBox="1"/>
          <p:nvPr/>
        </p:nvSpPr>
        <p:spPr>
          <a:xfrm>
            <a:off x="4904594" y="3267100"/>
            <a:ext cx="3785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solidFill>
                  <a:schemeClr val="accent2"/>
                </a:solidFill>
              </a:rPr>
              <a:t>Za </a:t>
            </a:r>
            <a:r>
              <a:rPr lang="en-US" sz="1200" dirty="0" err="1">
                <a:solidFill>
                  <a:schemeClr val="accent2"/>
                </a:solidFill>
              </a:rPr>
              <a:t>razliku</a:t>
            </a:r>
            <a:r>
              <a:rPr lang="en-US" sz="1200" dirty="0">
                <a:solidFill>
                  <a:schemeClr val="accent2"/>
                </a:solidFill>
              </a:rPr>
              <a:t> od </a:t>
            </a:r>
            <a:r>
              <a:rPr lang="en-US" sz="1200" dirty="0" err="1">
                <a:solidFill>
                  <a:schemeClr val="accent2"/>
                </a:solidFill>
              </a:rPr>
              <a:t>tradicionalne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matrične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faktorizacije</a:t>
            </a:r>
            <a:r>
              <a:rPr lang="en-US" sz="1200" dirty="0">
                <a:solidFill>
                  <a:schemeClr val="accent2"/>
                </a:solidFill>
              </a:rPr>
              <a:t>, </a:t>
            </a:r>
          </a:p>
          <a:p>
            <a:pPr algn="just"/>
            <a:r>
              <a:rPr lang="en-US" sz="1200" dirty="0" err="1">
                <a:solidFill>
                  <a:schemeClr val="accent2"/>
                </a:solidFill>
              </a:rPr>
              <a:t>autoenkoderi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kroz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nelinearne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aktivacione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funkcije</a:t>
            </a:r>
            <a:endParaRPr lang="en-US" sz="1200" dirty="0">
              <a:solidFill>
                <a:schemeClr val="accent2"/>
              </a:solidFill>
            </a:endParaRPr>
          </a:p>
          <a:p>
            <a:pPr algn="just"/>
            <a:r>
              <a:rPr lang="en-US" sz="1200" dirty="0" err="1">
                <a:solidFill>
                  <a:schemeClr val="accent2"/>
                </a:solidFill>
              </a:rPr>
              <a:t>mogu</a:t>
            </a:r>
            <a:r>
              <a:rPr lang="en-US" sz="1200" dirty="0">
                <a:solidFill>
                  <a:schemeClr val="accent2"/>
                </a:solidFill>
              </a:rPr>
              <a:t> da </a:t>
            </a:r>
            <a:r>
              <a:rPr lang="en-US" sz="1200" dirty="0" err="1">
                <a:solidFill>
                  <a:schemeClr val="accent2"/>
                </a:solidFill>
              </a:rPr>
              <a:t>nauče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mnogo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kompleksnije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i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apstraktnije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</a:p>
          <a:p>
            <a:pPr algn="just"/>
            <a:r>
              <a:rPr lang="en-US" sz="1200" dirty="0" err="1">
                <a:solidFill>
                  <a:schemeClr val="accent2"/>
                </a:solidFill>
              </a:rPr>
              <a:t>odnose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između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korisnika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i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dirty="0" err="1">
                <a:solidFill>
                  <a:schemeClr val="accent2"/>
                </a:solidFill>
              </a:rPr>
              <a:t>artikala</a:t>
            </a:r>
            <a:r>
              <a:rPr lang="en-US" sz="1200" dirty="0">
                <a:solidFill>
                  <a:schemeClr val="accent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"/>
          <p:cNvSpPr txBox="1">
            <a:spLocks noGrp="1"/>
          </p:cNvSpPr>
          <p:nvPr>
            <p:ph type="title"/>
          </p:nvPr>
        </p:nvSpPr>
        <p:spPr>
          <a:xfrm>
            <a:off x="713300" y="25717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Podaci </a:t>
            </a:r>
            <a:r>
              <a:rPr lang="en-US" sz="4000" dirty="0"/>
              <a:t>i</a:t>
            </a:r>
            <a:r>
              <a:rPr lang="en" sz="4000" dirty="0"/>
              <a:t> preprocesiranje</a:t>
            </a:r>
            <a:endParaRPr sz="4000" dirty="0"/>
          </a:p>
        </p:txBody>
      </p:sp>
      <p:sp>
        <p:nvSpPr>
          <p:cNvPr id="499" name="Google Shape;499;p53"/>
          <p:cNvSpPr txBox="1">
            <a:spLocks noGrp="1"/>
          </p:cNvSpPr>
          <p:nvPr>
            <p:ph type="title" idx="2"/>
          </p:nvPr>
        </p:nvSpPr>
        <p:spPr>
          <a:xfrm>
            <a:off x="71330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1"/>
          <p:cNvSpPr/>
          <p:nvPr/>
        </p:nvSpPr>
        <p:spPr>
          <a:xfrm>
            <a:off x="5399774" y="1848725"/>
            <a:ext cx="3026400" cy="1158300"/>
          </a:xfrm>
          <a:prstGeom prst="homePlate">
            <a:avLst>
              <a:gd name="adj" fmla="val 50000"/>
            </a:avLst>
          </a:prstGeom>
          <a:solidFill>
            <a:schemeClr val="dk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1"/>
          <p:cNvSpPr/>
          <p:nvPr/>
        </p:nvSpPr>
        <p:spPr>
          <a:xfrm>
            <a:off x="3093580" y="1848725"/>
            <a:ext cx="3026400" cy="1158300"/>
          </a:xfrm>
          <a:prstGeom prst="homePlate">
            <a:avLst>
              <a:gd name="adj" fmla="val 50000"/>
            </a:avLst>
          </a:prstGeom>
          <a:solidFill>
            <a:schemeClr val="dk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1"/>
          <p:cNvSpPr txBox="1">
            <a:spLocks noGrp="1"/>
          </p:cNvSpPr>
          <p:nvPr>
            <p:ph type="title"/>
          </p:nvPr>
        </p:nvSpPr>
        <p:spPr>
          <a:xfrm>
            <a:off x="553269" y="10143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02 Podaci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preprocesiranje</a:t>
            </a:r>
            <a:endParaRPr sz="1800" dirty="0"/>
          </a:p>
        </p:txBody>
      </p:sp>
      <p:sp>
        <p:nvSpPr>
          <p:cNvPr id="331" name="Google Shape;331;p41"/>
          <p:cNvSpPr/>
          <p:nvPr/>
        </p:nvSpPr>
        <p:spPr>
          <a:xfrm>
            <a:off x="717875" y="1848725"/>
            <a:ext cx="3026400" cy="1158300"/>
          </a:xfrm>
          <a:prstGeom prst="homePlate">
            <a:avLst>
              <a:gd name="adj" fmla="val 50000"/>
            </a:avLst>
          </a:prstGeom>
          <a:solidFill>
            <a:schemeClr val="dk2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41"/>
          <p:cNvSpPr txBox="1">
            <a:spLocks noGrp="1"/>
          </p:cNvSpPr>
          <p:nvPr>
            <p:ph type="subTitle" idx="4294967295"/>
          </p:nvPr>
        </p:nvSpPr>
        <p:spPr>
          <a:xfrm>
            <a:off x="1154752" y="2222025"/>
            <a:ext cx="1734900" cy="4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chemeClr val="lt1"/>
                </a:solidFill>
              </a:rPr>
              <a:t>DATASET</a:t>
            </a:r>
          </a:p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 b="1" dirty="0">
              <a:solidFill>
                <a:schemeClr val="lt1"/>
              </a:solidFill>
            </a:endParaRPr>
          </a:p>
        </p:txBody>
      </p:sp>
      <p:sp>
        <p:nvSpPr>
          <p:cNvPr id="333" name="Google Shape;333;p41"/>
          <p:cNvSpPr txBox="1">
            <a:spLocks noGrp="1"/>
          </p:cNvSpPr>
          <p:nvPr>
            <p:ph type="subTitle" idx="4294967295"/>
          </p:nvPr>
        </p:nvSpPr>
        <p:spPr>
          <a:xfrm>
            <a:off x="3820573" y="2222025"/>
            <a:ext cx="1734900" cy="4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chemeClr val="lt1"/>
                </a:solidFill>
              </a:rPr>
              <a:t>FILTRACIJA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334" name="Google Shape;334;p41"/>
          <p:cNvSpPr txBox="1">
            <a:spLocks noGrp="1"/>
          </p:cNvSpPr>
          <p:nvPr>
            <p:ph type="subTitle" idx="4294967295"/>
          </p:nvPr>
        </p:nvSpPr>
        <p:spPr>
          <a:xfrm>
            <a:off x="6253966" y="2222025"/>
            <a:ext cx="1734900" cy="4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chemeClr val="lt1"/>
                </a:solidFill>
              </a:rPr>
              <a:t>REZULTAT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335" name="Google Shape;335;p41"/>
          <p:cNvSpPr txBox="1">
            <a:spLocks noGrp="1"/>
          </p:cNvSpPr>
          <p:nvPr>
            <p:ph type="subTitle" idx="4294967295"/>
          </p:nvPr>
        </p:nvSpPr>
        <p:spPr>
          <a:xfrm>
            <a:off x="583889" y="2680425"/>
            <a:ext cx="2716835" cy="4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accent1"/>
              </a:buClr>
              <a:buSzPts val="1400"/>
              <a:buNone/>
            </a:pPr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Amazon Reviews Dataset</a:t>
            </a:r>
          </a:p>
          <a:p>
            <a:pPr marL="139700" lvl="0" indent="0">
              <a:buClr>
                <a:schemeClr val="accent1"/>
              </a:buClr>
              <a:buSzPts val="1400"/>
              <a:buNone/>
            </a:pPr>
            <a:endParaRPr lang="en-US" sz="1400" dirty="0">
              <a:solidFill>
                <a:schemeClr val="dk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A0D30C-F9ED-6A33-2841-81AA14C8010B}"/>
              </a:ext>
            </a:extLst>
          </p:cNvPr>
          <p:cNvSpPr txBox="1"/>
          <p:nvPr/>
        </p:nvSpPr>
        <p:spPr>
          <a:xfrm>
            <a:off x="553269" y="3050876"/>
            <a:ext cx="27414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25450" indent="-285750"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Montserrat"/>
                <a:sym typeface="Montserrat"/>
              </a:rPr>
              <a:t>Broj</a:t>
            </a:r>
            <a:r>
              <a:rPr lang="en-US" dirty="0">
                <a:solidFill>
                  <a:schemeClr val="dk1"/>
                </a:solidFill>
                <a:latin typeface="Montserrat"/>
                <a:sym typeface="Montserrat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"/>
                <a:sym typeface="Montserrat"/>
              </a:rPr>
              <a:t>recenzija</a:t>
            </a:r>
            <a:r>
              <a:rPr lang="en-US" dirty="0">
                <a:solidFill>
                  <a:schemeClr val="dk1"/>
                </a:solidFill>
                <a:latin typeface="Montserrat"/>
                <a:sym typeface="Montserrat"/>
              </a:rPr>
              <a:t> – 568 484</a:t>
            </a:r>
          </a:p>
          <a:p>
            <a:pPr marL="425450" indent="-285750"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Montserrat"/>
                <a:sym typeface="Montserrat"/>
              </a:rPr>
              <a:t>Broj</a:t>
            </a:r>
            <a:r>
              <a:rPr lang="en-US" dirty="0">
                <a:solidFill>
                  <a:schemeClr val="dk1"/>
                </a:solidFill>
                <a:latin typeface="Montserrat"/>
                <a:sym typeface="Montserrat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"/>
                <a:sym typeface="Montserrat"/>
              </a:rPr>
              <a:t>korisnika</a:t>
            </a:r>
            <a:r>
              <a:rPr lang="en-US" dirty="0">
                <a:solidFill>
                  <a:schemeClr val="dk1"/>
                </a:solidFill>
                <a:latin typeface="Montserrat"/>
                <a:sym typeface="Montserrat"/>
              </a:rPr>
              <a:t> – 256 059</a:t>
            </a:r>
          </a:p>
          <a:p>
            <a:pPr marL="425450" indent="-285750"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dk1"/>
                </a:solidFill>
                <a:latin typeface="Montserrat"/>
                <a:sym typeface="Montserrat"/>
              </a:rPr>
              <a:t>Broj</a:t>
            </a:r>
            <a:r>
              <a:rPr lang="en-US" dirty="0">
                <a:solidFill>
                  <a:schemeClr val="dk1"/>
                </a:solidFill>
                <a:latin typeface="Montserrat"/>
                <a:sym typeface="Montserrat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"/>
                <a:sym typeface="Montserrat"/>
              </a:rPr>
              <a:t>proizvoda</a:t>
            </a:r>
            <a:r>
              <a:rPr lang="en-US" dirty="0">
                <a:solidFill>
                  <a:schemeClr val="dk1"/>
                </a:solidFill>
                <a:latin typeface="Montserrat"/>
                <a:sym typeface="Montserrat"/>
              </a:rPr>
              <a:t> – 74 258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87DF1-6BD3-C876-017E-6B985927CDC0}"/>
              </a:ext>
            </a:extLst>
          </p:cNvPr>
          <p:cNvSpPr txBox="1"/>
          <p:nvPr/>
        </p:nvSpPr>
        <p:spPr>
          <a:xfrm>
            <a:off x="3081293" y="3050876"/>
            <a:ext cx="271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25450" indent="-285750"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Montserrat"/>
              </a:rPr>
              <a:t>Korisnici &gt; 20 recenzija</a:t>
            </a:r>
          </a:p>
          <a:p>
            <a:pPr marL="425450" indent="-285750"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Montserrat"/>
              </a:rPr>
              <a:t>Proizvodi &gt; 20 recenzija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0C79C-D372-8DFF-7157-8A65B0E3B28B}"/>
              </a:ext>
            </a:extLst>
          </p:cNvPr>
          <p:cNvSpPr txBox="1"/>
          <p:nvPr/>
        </p:nvSpPr>
        <p:spPr>
          <a:xfrm>
            <a:off x="5668075" y="3050876"/>
            <a:ext cx="2206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25450" indent="-285750">
              <a:buClr>
                <a:schemeClr val="accent1"/>
              </a:buClr>
              <a:buSzPts val="14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Montserrat"/>
              </a:rPr>
              <a:t>47 380 </a:t>
            </a:r>
            <a:r>
              <a:rPr lang="en-US" dirty="0" err="1">
                <a:solidFill>
                  <a:schemeClr val="dk1"/>
                </a:solidFill>
                <a:latin typeface="Montserrat"/>
              </a:rPr>
              <a:t>interakcija</a:t>
            </a:r>
            <a:endParaRPr lang="en-US" dirty="0">
              <a:solidFill>
                <a:schemeClr val="dk1"/>
              </a:solidFill>
              <a:latin typeface="Montserra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5F0923-3378-27F2-7A1B-6FE514A7A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ECDA87E-AACA-7F5B-FEC5-E7C90369A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">
            <a:extLst>
              <a:ext uri="{FF2B5EF4-FFF2-40B4-BE49-F238E27FC236}">
                <a16:creationId xmlns:a16="http://schemas.microsoft.com/office/drawing/2014/main" id="{ABEF9261-20B3-E6B1-7D6C-4143315167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300" y="25717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Implementirani</a:t>
            </a:r>
            <a:br>
              <a:rPr lang="en-US" sz="4000" dirty="0"/>
            </a:br>
            <a:r>
              <a:rPr lang="en-US" sz="4000" dirty="0" err="1"/>
              <a:t>modeli</a:t>
            </a:r>
            <a:endParaRPr sz="4000" dirty="0"/>
          </a:p>
        </p:txBody>
      </p:sp>
      <p:sp>
        <p:nvSpPr>
          <p:cNvPr id="499" name="Google Shape;499;p53">
            <a:extLst>
              <a:ext uri="{FF2B5EF4-FFF2-40B4-BE49-F238E27FC236}">
                <a16:creationId xmlns:a16="http://schemas.microsoft.com/office/drawing/2014/main" id="{8904F3C7-51FA-24CF-28DC-75F50E328BE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30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3085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"/>
          <p:cNvSpPr/>
          <p:nvPr/>
        </p:nvSpPr>
        <p:spPr>
          <a:xfrm>
            <a:off x="4800340" y="3260775"/>
            <a:ext cx="2787600" cy="1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40"/>
          <p:cNvSpPr/>
          <p:nvPr/>
        </p:nvSpPr>
        <p:spPr>
          <a:xfrm>
            <a:off x="4800340" y="1628100"/>
            <a:ext cx="2787600" cy="1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40"/>
          <p:cNvSpPr/>
          <p:nvPr/>
        </p:nvSpPr>
        <p:spPr>
          <a:xfrm>
            <a:off x="1354215" y="3260775"/>
            <a:ext cx="2787600" cy="1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40"/>
          <p:cNvSpPr/>
          <p:nvPr/>
        </p:nvSpPr>
        <p:spPr>
          <a:xfrm>
            <a:off x="1354215" y="1628100"/>
            <a:ext cx="2787600" cy="112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0"/>
          <p:cNvSpPr/>
          <p:nvPr/>
        </p:nvSpPr>
        <p:spPr>
          <a:xfrm>
            <a:off x="4800265" y="2933025"/>
            <a:ext cx="2787600" cy="34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40"/>
          <p:cNvSpPr/>
          <p:nvPr/>
        </p:nvSpPr>
        <p:spPr>
          <a:xfrm>
            <a:off x="4800340" y="1287900"/>
            <a:ext cx="2787600" cy="34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40"/>
          <p:cNvSpPr/>
          <p:nvPr/>
        </p:nvSpPr>
        <p:spPr>
          <a:xfrm>
            <a:off x="1354215" y="2933025"/>
            <a:ext cx="2787600" cy="34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40"/>
          <p:cNvSpPr/>
          <p:nvPr/>
        </p:nvSpPr>
        <p:spPr>
          <a:xfrm>
            <a:off x="1354215" y="1287900"/>
            <a:ext cx="2787600" cy="34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40"/>
          <p:cNvSpPr txBox="1">
            <a:spLocks noGrp="1"/>
          </p:cNvSpPr>
          <p:nvPr>
            <p:ph type="title"/>
          </p:nvPr>
        </p:nvSpPr>
        <p:spPr>
          <a:xfrm>
            <a:off x="560315" y="232770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 Implementirani modeli</a:t>
            </a:r>
            <a:endParaRPr dirty="0"/>
          </a:p>
        </p:txBody>
      </p:sp>
      <p:sp>
        <p:nvSpPr>
          <p:cNvPr id="312" name="Google Shape;312;p40"/>
          <p:cNvSpPr txBox="1">
            <a:spLocks noGrp="1"/>
          </p:cNvSpPr>
          <p:nvPr>
            <p:ph type="subTitle" idx="1"/>
          </p:nvPr>
        </p:nvSpPr>
        <p:spPr>
          <a:xfrm>
            <a:off x="1302622" y="1246050"/>
            <a:ext cx="3120445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dirty="0"/>
              <a:t>Baseline </a:t>
            </a:r>
            <a:r>
              <a:rPr lang="en-US" sz="1600" dirty="0"/>
              <a:t>Autoencoder</a:t>
            </a:r>
            <a:endParaRPr sz="1600" dirty="0"/>
          </a:p>
        </p:txBody>
      </p:sp>
      <p:sp>
        <p:nvSpPr>
          <p:cNvPr id="313" name="Google Shape;313;p40"/>
          <p:cNvSpPr txBox="1">
            <a:spLocks noGrp="1"/>
          </p:cNvSpPr>
          <p:nvPr>
            <p:ph type="subTitle" idx="2"/>
          </p:nvPr>
        </p:nvSpPr>
        <p:spPr>
          <a:xfrm>
            <a:off x="1246602" y="1735515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SzPts val="1400"/>
              <a:buChar char="●"/>
            </a:pPr>
            <a:r>
              <a:rPr lang="en-US" dirty="0" err="1"/>
              <a:t>Osnovna</a:t>
            </a:r>
            <a:r>
              <a:rPr lang="en-US" dirty="0"/>
              <a:t> </a:t>
            </a:r>
            <a:r>
              <a:rPr lang="en-US" dirty="0" err="1"/>
              <a:t>arhitektura</a:t>
            </a:r>
            <a:r>
              <a:rPr lang="en-US" dirty="0"/>
              <a:t> za </a:t>
            </a:r>
            <a:r>
              <a:rPr lang="en-US" dirty="0" err="1"/>
              <a:t>poređenje</a:t>
            </a:r>
            <a:r>
              <a:rPr lang="en-US" dirty="0"/>
              <a:t> </a:t>
            </a:r>
            <a:r>
              <a:rPr lang="en-US" dirty="0" err="1"/>
              <a:t>performansi</a:t>
            </a:r>
            <a:endParaRPr lang="en-US" dirty="0"/>
          </a:p>
          <a:p>
            <a:pPr lvl="0" indent="-317500">
              <a:buSzPts val="1400"/>
              <a:buChar char="●"/>
            </a:pPr>
            <a:r>
              <a:rPr lang="pl-PL" dirty="0"/>
              <a:t>Polazni model bez dodatnih optimizacija</a:t>
            </a:r>
            <a:endParaRPr dirty="0"/>
          </a:p>
        </p:txBody>
      </p:sp>
      <p:sp>
        <p:nvSpPr>
          <p:cNvPr id="314" name="Google Shape;314;p40"/>
          <p:cNvSpPr txBox="1">
            <a:spLocks noGrp="1"/>
          </p:cNvSpPr>
          <p:nvPr>
            <p:ph type="subTitle" idx="3"/>
          </p:nvPr>
        </p:nvSpPr>
        <p:spPr>
          <a:xfrm>
            <a:off x="4804002" y="1285143"/>
            <a:ext cx="3120444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1600" dirty="0"/>
              <a:t>Improved Autoencoder</a:t>
            </a:r>
            <a:endParaRPr sz="1600" dirty="0"/>
          </a:p>
        </p:txBody>
      </p:sp>
      <p:sp>
        <p:nvSpPr>
          <p:cNvPr id="315" name="Google Shape;315;p40"/>
          <p:cNvSpPr txBox="1">
            <a:spLocks noGrp="1"/>
          </p:cNvSpPr>
          <p:nvPr>
            <p:ph type="subTitle" idx="4"/>
          </p:nvPr>
        </p:nvSpPr>
        <p:spPr>
          <a:xfrm>
            <a:off x="4692727" y="1729506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SzPts val="1400"/>
              <a:buChar char="●"/>
            </a:pPr>
            <a:r>
              <a:rPr lang="sv-SE" dirty="0"/>
              <a:t>Dublja mreža sa većim latentnim prostorom</a:t>
            </a:r>
          </a:p>
          <a:p>
            <a:pPr lvl="0" indent="-317500">
              <a:buSzPts val="1400"/>
              <a:buChar char="●"/>
            </a:pPr>
            <a:r>
              <a:rPr lang="en-US" dirty="0" err="1"/>
              <a:t>Najbolji</a:t>
            </a:r>
            <a:r>
              <a:rPr lang="en-US" dirty="0"/>
              <a:t> RMSE </a:t>
            </a:r>
            <a:r>
              <a:rPr lang="en-US" dirty="0" err="1"/>
              <a:t>rezultat</a:t>
            </a:r>
            <a:r>
              <a:rPr lang="en-US" dirty="0"/>
              <a:t> </a:t>
            </a:r>
            <a:r>
              <a:rPr lang="en-US" dirty="0" err="1"/>
              <a:t>među</a:t>
            </a:r>
            <a:r>
              <a:rPr lang="en-US" dirty="0"/>
              <a:t> </a:t>
            </a:r>
            <a:r>
              <a:rPr lang="en-US" dirty="0" err="1"/>
              <a:t>svim</a:t>
            </a:r>
            <a:r>
              <a:rPr lang="en-US" dirty="0"/>
              <a:t> </a:t>
            </a:r>
            <a:r>
              <a:rPr lang="en-US" dirty="0" err="1"/>
              <a:t>modelima</a:t>
            </a:r>
            <a:endParaRPr dirty="0"/>
          </a:p>
        </p:txBody>
      </p:sp>
      <p:sp>
        <p:nvSpPr>
          <p:cNvPr id="316" name="Google Shape;316;p40"/>
          <p:cNvSpPr txBox="1">
            <a:spLocks noGrp="1"/>
          </p:cNvSpPr>
          <p:nvPr>
            <p:ph type="subTitle" idx="5"/>
          </p:nvPr>
        </p:nvSpPr>
        <p:spPr>
          <a:xfrm>
            <a:off x="1302346" y="2921414"/>
            <a:ext cx="304139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1600" dirty="0"/>
              <a:t>Regularized Autoencoder</a:t>
            </a:r>
            <a:endParaRPr sz="1600" dirty="0"/>
          </a:p>
        </p:txBody>
      </p:sp>
      <p:sp>
        <p:nvSpPr>
          <p:cNvPr id="317" name="Google Shape;317;p40"/>
          <p:cNvSpPr txBox="1">
            <a:spLocks noGrp="1"/>
          </p:cNvSpPr>
          <p:nvPr>
            <p:ph type="subTitle" idx="6"/>
          </p:nvPr>
        </p:nvSpPr>
        <p:spPr>
          <a:xfrm>
            <a:off x="1246602" y="3347025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SzPts val="1400"/>
              <a:buChar char="●"/>
            </a:pPr>
            <a:r>
              <a:rPr lang="en-US" dirty="0"/>
              <a:t>Dropout </a:t>
            </a:r>
            <a:r>
              <a:rPr lang="en-US" dirty="0" err="1"/>
              <a:t>i</a:t>
            </a:r>
            <a:r>
              <a:rPr lang="en-US" dirty="0"/>
              <a:t> L2 </a:t>
            </a:r>
            <a:r>
              <a:rPr lang="en-US" dirty="0" err="1"/>
              <a:t>regularizacija</a:t>
            </a:r>
            <a:endParaRPr lang="en-US" dirty="0"/>
          </a:p>
          <a:p>
            <a:pPr lvl="0" indent="-317500">
              <a:buSzPts val="1400"/>
              <a:buChar char="●"/>
            </a:pPr>
            <a:r>
              <a:rPr lang="en-US" dirty="0" err="1"/>
              <a:t>Smanjenje</a:t>
            </a:r>
            <a:r>
              <a:rPr lang="en-US" dirty="0"/>
              <a:t> overfitting-a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bolja</a:t>
            </a:r>
            <a:r>
              <a:rPr lang="en-US" dirty="0"/>
              <a:t> </a:t>
            </a:r>
            <a:r>
              <a:rPr lang="en-US" dirty="0" err="1"/>
              <a:t>generalizacija</a:t>
            </a:r>
            <a:endParaRPr dirty="0"/>
          </a:p>
        </p:txBody>
      </p:sp>
      <p:sp>
        <p:nvSpPr>
          <p:cNvPr id="318" name="Google Shape;318;p40"/>
          <p:cNvSpPr txBox="1">
            <a:spLocks noGrp="1"/>
          </p:cNvSpPr>
          <p:nvPr>
            <p:ph type="subTitle" idx="7"/>
          </p:nvPr>
        </p:nvSpPr>
        <p:spPr>
          <a:xfrm>
            <a:off x="4761307" y="2911927"/>
            <a:ext cx="3205835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en-US" sz="1600" dirty="0"/>
              <a:t>Denoising Autoencoder</a:t>
            </a:r>
            <a:endParaRPr sz="1600" dirty="0"/>
          </a:p>
        </p:txBody>
      </p:sp>
      <p:sp>
        <p:nvSpPr>
          <p:cNvPr id="319" name="Google Shape;319;p40"/>
          <p:cNvSpPr txBox="1">
            <a:spLocks noGrp="1"/>
          </p:cNvSpPr>
          <p:nvPr>
            <p:ph type="subTitle" idx="8"/>
          </p:nvPr>
        </p:nvSpPr>
        <p:spPr>
          <a:xfrm>
            <a:off x="4692727" y="3333873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SzPts val="1400"/>
              <a:buChar char="●"/>
            </a:pPr>
            <a:r>
              <a:rPr lang="pl-PL" dirty="0"/>
              <a:t>Učenje na podacima sa dodatim šumom</a:t>
            </a:r>
            <a:endParaRPr lang="en-US" dirty="0"/>
          </a:p>
          <a:p>
            <a:pPr lvl="0" indent="-317500">
              <a:buSzPts val="1400"/>
              <a:buChar char="●"/>
            </a:pPr>
            <a:r>
              <a:rPr lang="pl-PL" dirty="0"/>
              <a:t>Veća robusnost na nedostajuće interakcije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F6DA54-AFF2-6419-B0F5-CE2EA672A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E3EDB9A0-CD56-0F2D-04BD-0DD1C21B1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>
            <a:extLst>
              <a:ext uri="{FF2B5EF4-FFF2-40B4-BE49-F238E27FC236}">
                <a16:creationId xmlns:a16="http://schemas.microsoft.com/office/drawing/2014/main" id="{6E10C7A9-2FB9-02E4-C62E-497C0754EE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58240" y="2943330"/>
            <a:ext cx="762320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Arhitektura</a:t>
            </a:r>
            <a:r>
              <a:rPr lang="en-US" dirty="0"/>
              <a:t> Improved Encoder </a:t>
            </a:r>
            <a:r>
              <a:rPr lang="en-US" dirty="0" err="1"/>
              <a:t>modela</a:t>
            </a:r>
            <a:endParaRPr dirty="0"/>
          </a:p>
        </p:txBody>
      </p:sp>
      <p:sp>
        <p:nvSpPr>
          <p:cNvPr id="224" name="Google Shape;224;p34">
            <a:extLst>
              <a:ext uri="{FF2B5EF4-FFF2-40B4-BE49-F238E27FC236}">
                <a16:creationId xmlns:a16="http://schemas.microsoft.com/office/drawing/2014/main" id="{1BDF37A7-098B-6672-172C-54A72927694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265605" y="1683390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0143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EDE867-9E8E-1987-5A68-26B7630D1D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57" r="1008" b="7555"/>
          <a:stretch>
            <a:fillRect/>
          </a:stretch>
        </p:blipFill>
        <p:spPr>
          <a:xfrm>
            <a:off x="23525" y="868680"/>
            <a:ext cx="9051895" cy="36804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EB3EF5B-3B58-61B4-22E3-0CB79BFF9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">
            <a:extLst>
              <a:ext uri="{FF2B5EF4-FFF2-40B4-BE49-F238E27FC236}">
                <a16:creationId xmlns:a16="http://schemas.microsoft.com/office/drawing/2014/main" id="{642D7C74-D0B0-C71C-5295-8653409E73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3280" y="2846070"/>
            <a:ext cx="5611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 err="1"/>
              <a:t>Rezultati</a:t>
            </a:r>
            <a:r>
              <a:rPr lang="en-US" sz="4000" dirty="0"/>
              <a:t> </a:t>
            </a:r>
            <a:r>
              <a:rPr lang="en-US" sz="4000" dirty="0" err="1"/>
              <a:t>evaluacije</a:t>
            </a:r>
            <a:endParaRPr sz="4000" dirty="0"/>
          </a:p>
        </p:txBody>
      </p:sp>
      <p:sp>
        <p:nvSpPr>
          <p:cNvPr id="499" name="Google Shape;499;p53">
            <a:extLst>
              <a:ext uri="{FF2B5EF4-FFF2-40B4-BE49-F238E27FC236}">
                <a16:creationId xmlns:a16="http://schemas.microsoft.com/office/drawing/2014/main" id="{827E875B-E275-FF08-A112-A25991CF286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53280" y="2000850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6347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>
          <a:extLst>
            <a:ext uri="{FF2B5EF4-FFF2-40B4-BE49-F238E27FC236}">
              <a16:creationId xmlns:a16="http://schemas.microsoft.com/office/drawing/2014/main" id="{3D3DC286-459D-A5D3-0038-352E030BD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1C8AFE6-DA6C-CCCA-2546-1D0F0C705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091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33DDC7E-2DED-1D53-FBE9-6103E61C4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">
            <a:extLst>
              <a:ext uri="{FF2B5EF4-FFF2-40B4-BE49-F238E27FC236}">
                <a16:creationId xmlns:a16="http://schemas.microsoft.com/office/drawing/2014/main" id="{69451FFD-9260-BD46-F254-20BD950E09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700" y="2998470"/>
            <a:ext cx="642664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 err="1"/>
              <a:t>Generisanje</a:t>
            </a:r>
            <a:r>
              <a:rPr lang="en-US" sz="4000" dirty="0"/>
              <a:t> </a:t>
            </a:r>
            <a:br>
              <a:rPr lang="en-US" sz="4000" dirty="0"/>
            </a:br>
            <a:r>
              <a:rPr lang="en-US" sz="4000" dirty="0" err="1"/>
              <a:t>preporuka</a:t>
            </a:r>
            <a:r>
              <a:rPr lang="en-US" sz="4000" dirty="0"/>
              <a:t> </a:t>
            </a:r>
            <a:r>
              <a:rPr lang="en-US" sz="4000" dirty="0" err="1"/>
              <a:t>proizvoda</a:t>
            </a:r>
            <a:endParaRPr sz="4000" dirty="0"/>
          </a:p>
        </p:txBody>
      </p:sp>
      <p:sp>
        <p:nvSpPr>
          <p:cNvPr id="499" name="Google Shape;499;p53">
            <a:extLst>
              <a:ext uri="{FF2B5EF4-FFF2-40B4-BE49-F238E27FC236}">
                <a16:creationId xmlns:a16="http://schemas.microsoft.com/office/drawing/2014/main" id="{D10ADE6B-02F7-B927-930D-3CFB9D3BFC9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53280" y="1704270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6191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52DED6-E27B-780D-0B0F-B7E8F4C1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80" y="-60960"/>
            <a:ext cx="9204960" cy="53809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55D7656-8389-3E8E-A7C9-DF3A63FB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">
            <a:extLst>
              <a:ext uri="{FF2B5EF4-FFF2-40B4-BE49-F238E27FC236}">
                <a16:creationId xmlns:a16="http://schemas.microsoft.com/office/drawing/2014/main" id="{04D07577-4C95-4CDF-1583-44710A2127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700" y="3143250"/>
            <a:ext cx="779062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200" dirty="0"/>
              <a:t>Analiza </a:t>
            </a:r>
            <a:r>
              <a:rPr lang="en-US" sz="3200" dirty="0" err="1"/>
              <a:t>osetljivosti</a:t>
            </a:r>
            <a:r>
              <a:rPr lang="en-US" sz="3200" dirty="0"/>
              <a:t> </a:t>
            </a:r>
            <a:r>
              <a:rPr lang="en-US" sz="3200" dirty="0" err="1"/>
              <a:t>i</a:t>
            </a:r>
            <a:r>
              <a:rPr lang="en-US" sz="3200" dirty="0"/>
              <a:t> </a:t>
            </a:r>
            <a:r>
              <a:rPr lang="en-US" sz="3200" dirty="0" err="1"/>
              <a:t>hiperparametarska</a:t>
            </a:r>
            <a:r>
              <a:rPr lang="en-US" sz="3200" dirty="0"/>
              <a:t> </a:t>
            </a:r>
            <a:br>
              <a:rPr lang="en-US" sz="3200" dirty="0"/>
            </a:br>
            <a:r>
              <a:rPr lang="en-US" sz="3200" dirty="0" err="1"/>
              <a:t>optimizacija</a:t>
            </a:r>
            <a:endParaRPr sz="3200" dirty="0"/>
          </a:p>
        </p:txBody>
      </p:sp>
      <p:sp>
        <p:nvSpPr>
          <p:cNvPr id="499" name="Google Shape;499;p53">
            <a:extLst>
              <a:ext uri="{FF2B5EF4-FFF2-40B4-BE49-F238E27FC236}">
                <a16:creationId xmlns:a16="http://schemas.microsoft.com/office/drawing/2014/main" id="{1E20EAA1-4623-6768-D6AF-336515B10C1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53280" y="1704270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2613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85DAF12E-3DE0-7EC3-3C00-9EBA58E96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118138-9E53-D50A-2CC6-9ECBE8B0F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7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9950CF79-6165-9A1E-F6CD-F2F420E8B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">
            <a:extLst>
              <a:ext uri="{FF2B5EF4-FFF2-40B4-BE49-F238E27FC236}">
                <a16:creationId xmlns:a16="http://schemas.microsoft.com/office/drawing/2014/main" id="{4A51072D-A8B1-E64B-3A5E-3B3E0A2140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700" y="2998470"/>
            <a:ext cx="642664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 err="1"/>
              <a:t>Diskusija</a:t>
            </a:r>
            <a:endParaRPr sz="4000" dirty="0"/>
          </a:p>
        </p:txBody>
      </p:sp>
      <p:sp>
        <p:nvSpPr>
          <p:cNvPr id="499" name="Google Shape;499;p53">
            <a:extLst>
              <a:ext uri="{FF2B5EF4-FFF2-40B4-BE49-F238E27FC236}">
                <a16:creationId xmlns:a16="http://schemas.microsoft.com/office/drawing/2014/main" id="{F571E3DF-C668-3DB6-1EA1-1F5AFD00984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53280" y="1704270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2174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 Disukusija</a:t>
            </a:r>
            <a:endParaRPr dirty="0"/>
          </a:p>
        </p:txBody>
      </p:sp>
      <p:sp>
        <p:nvSpPr>
          <p:cNvPr id="286" name="Google Shape;286;p39"/>
          <p:cNvSpPr/>
          <p:nvPr/>
        </p:nvSpPr>
        <p:spPr>
          <a:xfrm>
            <a:off x="713225" y="2590875"/>
            <a:ext cx="2569500" cy="10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9"/>
          <p:cNvSpPr/>
          <p:nvPr/>
        </p:nvSpPr>
        <p:spPr>
          <a:xfrm>
            <a:off x="3282625" y="2279425"/>
            <a:ext cx="2569500" cy="10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9"/>
          <p:cNvSpPr/>
          <p:nvPr/>
        </p:nvSpPr>
        <p:spPr>
          <a:xfrm>
            <a:off x="5852025" y="1976450"/>
            <a:ext cx="2569500" cy="10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9"/>
          <p:cNvSpPr/>
          <p:nvPr/>
        </p:nvSpPr>
        <p:spPr>
          <a:xfrm rot="5400000">
            <a:off x="3029775" y="2435150"/>
            <a:ext cx="414600" cy="10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9"/>
          <p:cNvSpPr/>
          <p:nvPr/>
        </p:nvSpPr>
        <p:spPr>
          <a:xfrm rot="5400000">
            <a:off x="5600575" y="2127200"/>
            <a:ext cx="404700" cy="10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subTitle" idx="4294967295"/>
          </p:nvPr>
        </p:nvSpPr>
        <p:spPr>
          <a:xfrm>
            <a:off x="1227425" y="2079650"/>
            <a:ext cx="16418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chemeClr val="accent1"/>
                </a:solidFill>
              </a:rPr>
              <a:t>PREDNOSTI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292" name="Google Shape;292;p39"/>
          <p:cNvSpPr txBox="1">
            <a:spLocks noGrp="1"/>
          </p:cNvSpPr>
          <p:nvPr>
            <p:ph type="subTitle" idx="4294967295"/>
          </p:nvPr>
        </p:nvSpPr>
        <p:spPr>
          <a:xfrm>
            <a:off x="3523512" y="1764100"/>
            <a:ext cx="2022875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chemeClr val="accent1"/>
                </a:solidFill>
              </a:rPr>
              <a:t>OGRANI</a:t>
            </a:r>
            <a:r>
              <a:rPr lang="sr-Latn-RS" b="1" dirty="0">
                <a:solidFill>
                  <a:schemeClr val="accent1"/>
                </a:solidFill>
              </a:rPr>
              <a:t>ČENJA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293" name="Google Shape;293;p39"/>
          <p:cNvSpPr txBox="1">
            <a:spLocks noGrp="1"/>
          </p:cNvSpPr>
          <p:nvPr>
            <p:ph type="subTitle" idx="4294967295"/>
          </p:nvPr>
        </p:nvSpPr>
        <p:spPr>
          <a:xfrm>
            <a:off x="6259545" y="1316838"/>
            <a:ext cx="20553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sr-Latn-RS" b="1" dirty="0">
                <a:solidFill>
                  <a:schemeClr val="accent1"/>
                </a:solidFill>
              </a:rPr>
              <a:t>MOGUĆA UNAPREĐENJA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294" name="Google Shape;294;p39"/>
          <p:cNvSpPr txBox="1">
            <a:spLocks noGrp="1"/>
          </p:cNvSpPr>
          <p:nvPr>
            <p:ph type="subTitle" idx="4294967295"/>
          </p:nvPr>
        </p:nvSpPr>
        <p:spPr>
          <a:xfrm>
            <a:off x="717800" y="2796700"/>
            <a:ext cx="2569500" cy="14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SzPts val="1400"/>
            </a:pP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uspešno</a:t>
            </a:r>
            <a:r>
              <a:rPr lang="en-US" sz="12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modelovanje</a:t>
            </a:r>
            <a:r>
              <a:rPr lang="en-US" sz="12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latentnih</a:t>
            </a:r>
            <a:r>
              <a:rPr lang="en-US" sz="12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preferencija</a:t>
            </a:r>
            <a:endParaRPr lang="en-US" sz="1200" dirty="0">
              <a:solidFill>
                <a:schemeClr val="tx1">
                  <a:lumMod val="95000"/>
                </a:schemeClr>
              </a:solidFill>
            </a:endParaRPr>
          </a:p>
          <a:p>
            <a:pPr lvl="0" indent="-317500">
              <a:buSzPts val="1400"/>
            </a:pP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generisanje</a:t>
            </a:r>
            <a:r>
              <a:rPr lang="en-US" sz="12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personalizovanih</a:t>
            </a:r>
            <a:r>
              <a:rPr lang="en-US" sz="12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preporuka</a:t>
            </a:r>
            <a:endParaRPr lang="en-US" sz="1200" dirty="0">
              <a:solidFill>
                <a:schemeClr val="tx1">
                  <a:lumMod val="95000"/>
                </a:schemeClr>
              </a:solidFill>
            </a:endParaRPr>
          </a:p>
          <a:p>
            <a:pPr lvl="0" indent="-317500">
              <a:buSzPts val="1400"/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</a:rPr>
              <a:t>dobra </a:t>
            </a: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otpornost</a:t>
            </a:r>
            <a:r>
              <a:rPr lang="en-US" sz="12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na</a:t>
            </a:r>
            <a:r>
              <a:rPr lang="en-US" sz="12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sparsnost</a:t>
            </a:r>
            <a:endParaRPr sz="12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95" name="Google Shape;295;p39"/>
          <p:cNvSpPr txBox="1">
            <a:spLocks noGrp="1"/>
          </p:cNvSpPr>
          <p:nvPr>
            <p:ph type="subTitle" idx="4294967295"/>
          </p:nvPr>
        </p:nvSpPr>
        <p:spPr>
          <a:xfrm>
            <a:off x="3250200" y="2489350"/>
            <a:ext cx="2569500" cy="14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SzPts val="1400"/>
            </a:pP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koriste</a:t>
            </a:r>
            <a:r>
              <a:rPr lang="en-US" sz="1200" dirty="0">
                <a:solidFill>
                  <a:schemeClr val="tx1">
                    <a:lumMod val="95000"/>
                  </a:schemeClr>
                </a:solidFill>
              </a:rPr>
              <a:t> se </a:t>
            </a: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samo</a:t>
            </a:r>
            <a:r>
              <a:rPr lang="en-US" sz="12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ocene</a:t>
            </a:r>
            <a:endParaRPr lang="en-US" sz="1200" dirty="0">
              <a:solidFill>
                <a:schemeClr val="tx1">
                  <a:lumMod val="95000"/>
                </a:schemeClr>
              </a:solidFill>
            </a:endParaRPr>
          </a:p>
          <a:p>
            <a:pPr lvl="0" indent="-317500">
              <a:buSzPts val="1400"/>
            </a:pPr>
            <a:r>
              <a:rPr lang="pl-PL" sz="1200" dirty="0">
                <a:solidFill>
                  <a:schemeClr val="tx1">
                    <a:lumMod val="95000"/>
                  </a:schemeClr>
                </a:solidFill>
              </a:rPr>
              <a:t>nema dodatnih informacija o proizvodima</a:t>
            </a:r>
            <a:endParaRPr lang="en-US" sz="12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96" name="Google Shape;296;p39"/>
          <p:cNvSpPr txBox="1">
            <a:spLocks noGrp="1"/>
          </p:cNvSpPr>
          <p:nvPr>
            <p:ph type="subTitle" idx="4294967295"/>
          </p:nvPr>
        </p:nvSpPr>
        <p:spPr>
          <a:xfrm>
            <a:off x="5852025" y="2175625"/>
            <a:ext cx="2569500" cy="14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SzPts val="1400"/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</a:rPr>
              <a:t>NLP </a:t>
            </a: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analiza</a:t>
            </a:r>
            <a:r>
              <a:rPr lang="en-US" sz="120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recenzija</a:t>
            </a:r>
            <a:endParaRPr lang="en-US" sz="1200" dirty="0">
              <a:solidFill>
                <a:schemeClr val="tx1">
                  <a:lumMod val="95000"/>
                </a:schemeClr>
              </a:solidFill>
            </a:endParaRPr>
          </a:p>
          <a:p>
            <a:pPr lvl="0" indent="-317500">
              <a:buSzPts val="1400"/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</a:rPr>
              <a:t>Transformers </a:t>
            </a: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modeli</a:t>
            </a:r>
            <a:endParaRPr lang="en-US" sz="1200" dirty="0">
              <a:solidFill>
                <a:schemeClr val="tx1">
                  <a:lumMod val="95000"/>
                </a:schemeClr>
              </a:solidFill>
            </a:endParaRPr>
          </a:p>
          <a:p>
            <a:pPr lvl="0" indent="-317500">
              <a:buSzPts val="1400"/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</a:rPr>
              <a:t>Hybrid recommendation </a:t>
            </a:r>
            <a:r>
              <a:rPr lang="en-US" sz="1200" dirty="0" err="1">
                <a:solidFill>
                  <a:schemeClr val="tx1">
                    <a:lumMod val="95000"/>
                  </a:schemeClr>
                </a:solidFill>
              </a:rPr>
              <a:t>sistemi</a:t>
            </a:r>
            <a:endParaRPr sz="12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97" name="Google Shape;297;p39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9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ABE609-BB75-FCA7-FED0-C97EC0D03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1ECB939-6ED0-BD34-D477-024285FE2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3">
            <a:extLst>
              <a:ext uri="{FF2B5EF4-FFF2-40B4-BE49-F238E27FC236}">
                <a16:creationId xmlns:a16="http://schemas.microsoft.com/office/drawing/2014/main" id="{468C72C9-DFF1-FA1E-68DA-B5C66D9B91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700" y="2998470"/>
            <a:ext cx="642664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 err="1"/>
              <a:t>Zaklju</a:t>
            </a:r>
            <a:r>
              <a:rPr lang="sr-Latn-RS" sz="4000" dirty="0"/>
              <a:t>čak</a:t>
            </a:r>
            <a:endParaRPr sz="4000" dirty="0"/>
          </a:p>
        </p:txBody>
      </p:sp>
      <p:sp>
        <p:nvSpPr>
          <p:cNvPr id="499" name="Google Shape;499;p53">
            <a:extLst>
              <a:ext uri="{FF2B5EF4-FFF2-40B4-BE49-F238E27FC236}">
                <a16:creationId xmlns:a16="http://schemas.microsoft.com/office/drawing/2014/main" id="{8B301429-C09F-6EE9-1883-217C7179C3F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553280" y="1704270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9518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537903CD-9E72-B19B-16B1-DC137FE0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305066-41A3-3C7F-D313-2A6ADA977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3340" y="0"/>
            <a:ext cx="919734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61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969587-FDE1-6A5A-2580-2B7C9B1D9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800" y="3385455"/>
            <a:ext cx="7708200" cy="647700"/>
          </a:xfrm>
        </p:spPr>
        <p:txBody>
          <a:bodyPr/>
          <a:lstStyle/>
          <a:p>
            <a:r>
              <a:rPr lang="en-US" dirty="0"/>
              <a:t>Hvala </a:t>
            </a:r>
            <a:r>
              <a:rPr lang="en-US" dirty="0" err="1"/>
              <a:t>na</a:t>
            </a:r>
            <a:r>
              <a:rPr lang="en-US" dirty="0"/>
              <a:t> pa</a:t>
            </a:r>
            <a:r>
              <a:rPr lang="sr-Latn-RS" dirty="0"/>
              <a:t>žnji!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268A3A-55C0-673E-0A38-43CC01CD3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nagement Consulting Toolkit by Slidesgo">
  <a:themeElements>
    <a:clrScheme name="Simple Light">
      <a:dk1>
        <a:srgbClr val="FFFFFF"/>
      </a:dk1>
      <a:lt1>
        <a:srgbClr val="000000"/>
      </a:lt1>
      <a:dk2>
        <a:srgbClr val="D38B13"/>
      </a:dk2>
      <a:lt2>
        <a:srgbClr val="3E3E3E"/>
      </a:lt2>
      <a:accent1>
        <a:srgbClr val="FFCD76"/>
      </a:accent1>
      <a:accent2>
        <a:srgbClr val="FFFFFF"/>
      </a:accent2>
      <a:accent3>
        <a:srgbClr val="D38B13"/>
      </a:accent3>
      <a:accent4>
        <a:srgbClr val="3E3E3E"/>
      </a:accent4>
      <a:accent5>
        <a:srgbClr val="FFCD76"/>
      </a:accent5>
      <a:accent6>
        <a:srgbClr val="FFFFFF"/>
      </a:accent6>
      <a:hlink>
        <a:srgbClr val="FFCD7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On-screen Show (16:9)</PresentationFormat>
  <Paragraphs>70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Montserrat</vt:lpstr>
      <vt:lpstr>Arial</vt:lpstr>
      <vt:lpstr>Fira Sans Extra Condensed Medium</vt:lpstr>
      <vt:lpstr>Management Consulting Toolkit by Slidesgo</vt:lpstr>
      <vt:lpstr>PowerPoint Presentation</vt:lpstr>
      <vt:lpstr>PowerPoint Presentation</vt:lpstr>
      <vt:lpstr>Opis problema</vt:lpstr>
      <vt:lpstr> 01 OPIS PROBLEMA</vt:lpstr>
      <vt:lpstr>Podaci i preprocesiranje</vt:lpstr>
      <vt:lpstr>02 Podaci i preprocesiranje</vt:lpstr>
      <vt:lpstr>Implementirani modeli</vt:lpstr>
      <vt:lpstr>03 Implementirani modeli</vt:lpstr>
      <vt:lpstr>Arhitektura Improved Encoder modela</vt:lpstr>
      <vt:lpstr>PowerPoint Presentation</vt:lpstr>
      <vt:lpstr>Rezultati evaluacije</vt:lpstr>
      <vt:lpstr>PowerPoint Presentation</vt:lpstr>
      <vt:lpstr>Generisanje  preporuka proizvoda</vt:lpstr>
      <vt:lpstr>PowerPoint Presentation</vt:lpstr>
      <vt:lpstr>Analiza osetljivosti i hiperparametarska  optimizacija</vt:lpstr>
      <vt:lpstr>PowerPoint Presentation</vt:lpstr>
      <vt:lpstr>Diskusija</vt:lpstr>
      <vt:lpstr>07 Disukusija</vt:lpstr>
      <vt:lpstr>Zaključak</vt:lpstr>
      <vt:lpstr>PowerPoint Presentation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 Firefly G11</dc:creator>
  <cp:lastModifiedBy>HP Firefly G11</cp:lastModifiedBy>
  <cp:revision>1</cp:revision>
  <dcterms:modified xsi:type="dcterms:W3CDTF">2026-05-29T17:36:04Z</dcterms:modified>
</cp:coreProperties>
</file>